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6858000" cy="9906000" type="A4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inimized" horzBarState="maximized">
    <p:restoredLeft sz="15620" autoAdjust="0"/>
    <p:restoredTop sz="94660" autoAdjust="0"/>
  </p:normalViewPr>
  <p:slideViewPr>
    <p:cSldViewPr>
      <p:cViewPr>
        <p:scale>
          <a:sx n="150" d="100"/>
          <a:sy n="150" d="100"/>
        </p:scale>
        <p:origin x="-660" y="-78"/>
      </p:cViewPr>
      <p:guideLst>
        <p:guide orient="horz" pos="2064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111" tIns="47056" rIns="94111" bIns="47056" numCol="1" anchor="t" anchorCtr="0" compatLnSpc="1">
            <a:prstTxWarp prst="textNoShape">
              <a:avLst/>
            </a:prstTxWarp>
          </a:bodyPr>
          <a:lstStyle>
            <a:lvl1pPr defTabSz="941388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111" tIns="47056" rIns="94111" bIns="47056" numCol="1" anchor="t" anchorCtr="0" compatLnSpc="1">
            <a:prstTxWarp prst="textNoShape">
              <a:avLst/>
            </a:prstTxWarp>
          </a:bodyPr>
          <a:lstStyle>
            <a:lvl1pPr algn="r" defTabSz="941388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111" tIns="47056" rIns="94111" bIns="47056" numCol="1" anchor="b" anchorCtr="0" compatLnSpc="1">
            <a:prstTxWarp prst="textNoShape">
              <a:avLst/>
            </a:prstTxWarp>
          </a:bodyPr>
          <a:lstStyle>
            <a:lvl1pPr defTabSz="941388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111" tIns="47056" rIns="94111" bIns="47056" numCol="1" anchor="b" anchorCtr="0" compatLnSpc="1">
            <a:prstTxWarp prst="textNoShape">
              <a:avLst/>
            </a:prstTxWarp>
          </a:bodyPr>
          <a:lstStyle>
            <a:lvl1pPr algn="r" defTabSz="941388">
              <a:defRPr sz="1200" smtClean="0"/>
            </a:lvl1pPr>
          </a:lstStyle>
          <a:p>
            <a:pPr>
              <a:defRPr/>
            </a:pPr>
            <a:fld id="{802E9EB8-0892-443E-B0A1-95CCE47E98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3238" cy="433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38" tIns="46369" rIns="92738" bIns="46369" numCol="1" anchor="t" anchorCtr="0" compatLnSpc="1">
            <a:prstTxWarp prst="textNoShape">
              <a:avLst/>
            </a:prstTxWarp>
          </a:bodyPr>
          <a:lstStyle>
            <a:lvl1pPr defTabSz="927100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5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4005263" y="0"/>
            <a:ext cx="3043237" cy="433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38" tIns="46369" rIns="92738" bIns="46369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24100" y="720725"/>
            <a:ext cx="2397125" cy="34623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7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60438" y="4400550"/>
            <a:ext cx="5126037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38" tIns="46369" rIns="92738" bIns="4636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3318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99513"/>
            <a:ext cx="3043238" cy="50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38" tIns="46369" rIns="92738" bIns="46369" numCol="1" anchor="b" anchorCtr="0" compatLnSpc="1">
            <a:prstTxWarp prst="textNoShape">
              <a:avLst/>
            </a:prstTxWarp>
          </a:bodyPr>
          <a:lstStyle>
            <a:lvl1pPr defTabSz="927100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9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05263" y="8799513"/>
            <a:ext cx="3043237" cy="50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38" tIns="46369" rIns="92738" bIns="46369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 smtClean="0"/>
            </a:lvl1pPr>
          </a:lstStyle>
          <a:p>
            <a:pPr>
              <a:defRPr/>
            </a:pPr>
            <a:fld id="{D4CEB564-C3AC-4642-B467-78ADC6CF00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5AD77F-AC59-449F-B876-5336B393414A}" type="slidenum">
              <a:rPr lang="en-US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076575"/>
            <a:ext cx="5829300" cy="21240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2063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81FA7F-5B23-4818-B7FF-9481BFB64F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C6A88D-EFF6-4628-8F19-FFE68783A2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338" y="6365875"/>
            <a:ext cx="5829300" cy="196691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338" y="4198938"/>
            <a:ext cx="5829300" cy="216693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58B9A5-0181-46D4-B796-ACAE4A52FC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2862263"/>
            <a:ext cx="2838450" cy="594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05200" y="2862263"/>
            <a:ext cx="2838450" cy="594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FA2B11-6394-411D-912A-C030AD42E7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738"/>
            <a:ext cx="3030538" cy="9239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663"/>
            <a:ext cx="3030538" cy="57070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4563" y="2217738"/>
            <a:ext cx="3030537" cy="9239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4563" y="3141663"/>
            <a:ext cx="3030537" cy="57070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8D5C5F-D140-47C5-9A11-47A5C81C61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D9685A-717E-4BC7-AF0F-E196CEE12E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15E0CB-31D4-4514-AE33-5004D3A146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3700"/>
            <a:ext cx="2255838" cy="16795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393700"/>
            <a:ext cx="3833812" cy="8455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3275"/>
            <a:ext cx="2255838" cy="67754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E1E93A-FCAC-451B-A42F-DE8290FFFE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613" y="6934200"/>
            <a:ext cx="4114800" cy="8191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613" y="885825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613" y="7753350"/>
            <a:ext cx="4114800" cy="11620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812A86-AEB8-4FEB-8A93-E6581CEB61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2E6F98-2FE5-4903-B2D3-0060CCDBE5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86325" y="881063"/>
            <a:ext cx="1457325" cy="7924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881063"/>
            <a:ext cx="4219575" cy="7924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658D07-6B99-48FB-BE8A-8757A1A48B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4350" y="881063"/>
            <a:ext cx="5829300" cy="165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2862263"/>
            <a:ext cx="5829300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14350" y="9024938"/>
            <a:ext cx="1428750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9024938"/>
            <a:ext cx="1428750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AC20800D-794A-4531-A1B7-734A82EB45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6"/>
          <p:cNvSpPr txBox="1">
            <a:spLocks noChangeArrowheads="1"/>
          </p:cNvSpPr>
          <p:nvPr/>
        </p:nvSpPr>
        <p:spPr bwMode="auto">
          <a:xfrm>
            <a:off x="2324100" y="1017588"/>
            <a:ext cx="2057400" cy="3492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 dirty="0"/>
              <a:t>Purchase of material from approved vendor as per </a:t>
            </a:r>
            <a:r>
              <a:rPr lang="en-US" sz="800" dirty="0" smtClean="0"/>
              <a:t>Biomedical Ltd specifications</a:t>
            </a:r>
            <a:endParaRPr lang="en-US" sz="800" dirty="0"/>
          </a:p>
        </p:txBody>
      </p:sp>
      <p:sp>
        <p:nvSpPr>
          <p:cNvPr id="2051" name="Text Box 7"/>
          <p:cNvSpPr txBox="1">
            <a:spLocks noChangeArrowheads="1"/>
          </p:cNvSpPr>
          <p:nvPr/>
        </p:nvSpPr>
        <p:spPr bwMode="auto">
          <a:xfrm>
            <a:off x="1885950" y="1612900"/>
            <a:ext cx="2847975" cy="2270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/>
              <a:t>Storage of material in quarantine area till tested by Q.C.</a:t>
            </a:r>
          </a:p>
        </p:txBody>
      </p:sp>
      <p:sp>
        <p:nvSpPr>
          <p:cNvPr id="2052" name="Line 8"/>
          <p:cNvSpPr>
            <a:spLocks noChangeShapeType="1"/>
          </p:cNvSpPr>
          <p:nvPr/>
        </p:nvSpPr>
        <p:spPr bwMode="auto">
          <a:xfrm>
            <a:off x="3314700" y="1373188"/>
            <a:ext cx="0" cy="2174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sm" len="med"/>
          </a:ln>
        </p:spPr>
        <p:txBody>
          <a:bodyPr/>
          <a:lstStyle/>
          <a:p>
            <a:endParaRPr lang="en-GB"/>
          </a:p>
        </p:txBody>
      </p:sp>
      <p:sp>
        <p:nvSpPr>
          <p:cNvPr id="2053" name="Text Box 10"/>
          <p:cNvSpPr txBox="1">
            <a:spLocks noChangeArrowheads="1"/>
          </p:cNvSpPr>
          <p:nvPr/>
        </p:nvSpPr>
        <p:spPr bwMode="auto">
          <a:xfrm>
            <a:off x="247650" y="1570038"/>
            <a:ext cx="1066800" cy="3492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/>
              <a:t>Testing by QC Laboratory </a:t>
            </a:r>
          </a:p>
        </p:txBody>
      </p:sp>
      <p:sp>
        <p:nvSpPr>
          <p:cNvPr id="2054" name="Text Box 11"/>
          <p:cNvSpPr txBox="1">
            <a:spLocks noChangeArrowheads="1"/>
          </p:cNvSpPr>
          <p:nvPr/>
        </p:nvSpPr>
        <p:spPr bwMode="auto">
          <a:xfrm>
            <a:off x="1409700" y="2105025"/>
            <a:ext cx="3810000" cy="2270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/>
              <a:t>Transfer  of raw / packaging material to approved area in the stores</a:t>
            </a:r>
          </a:p>
        </p:txBody>
      </p:sp>
      <p:grpSp>
        <p:nvGrpSpPr>
          <p:cNvPr id="2055" name="Group 12"/>
          <p:cNvGrpSpPr>
            <a:grpSpLocks/>
          </p:cNvGrpSpPr>
          <p:nvPr/>
        </p:nvGrpSpPr>
        <p:grpSpPr bwMode="auto">
          <a:xfrm>
            <a:off x="1352550" y="1619250"/>
            <a:ext cx="523875" cy="209550"/>
            <a:chOff x="870" y="1020"/>
            <a:chExt cx="330" cy="132"/>
          </a:xfrm>
        </p:grpSpPr>
        <p:grpSp>
          <p:nvGrpSpPr>
            <p:cNvPr id="2115" name="Group 13"/>
            <p:cNvGrpSpPr>
              <a:grpSpLocks/>
            </p:cNvGrpSpPr>
            <p:nvPr/>
          </p:nvGrpSpPr>
          <p:grpSpPr bwMode="auto">
            <a:xfrm>
              <a:off x="870" y="1104"/>
              <a:ext cx="318" cy="48"/>
              <a:chOff x="888" y="1104"/>
              <a:chExt cx="246" cy="48"/>
            </a:xfrm>
          </p:grpSpPr>
          <p:sp>
            <p:nvSpPr>
              <p:cNvPr id="2119" name="Line 14"/>
              <p:cNvSpPr>
                <a:spLocks noChangeShapeType="1"/>
              </p:cNvSpPr>
              <p:nvPr/>
            </p:nvSpPr>
            <p:spPr bwMode="auto">
              <a:xfrm flipH="1">
                <a:off x="888" y="110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20" name="Line 15"/>
              <p:cNvSpPr>
                <a:spLocks noChangeShapeType="1"/>
              </p:cNvSpPr>
              <p:nvPr/>
            </p:nvSpPr>
            <p:spPr bwMode="auto">
              <a:xfrm flipV="1">
                <a:off x="1086" y="1104"/>
                <a:ext cx="48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116" name="Group 16"/>
            <p:cNvGrpSpPr>
              <a:grpSpLocks/>
            </p:cNvGrpSpPr>
            <p:nvPr/>
          </p:nvGrpSpPr>
          <p:grpSpPr bwMode="auto">
            <a:xfrm rot="10800000">
              <a:off x="876" y="1020"/>
              <a:ext cx="324" cy="66"/>
              <a:chOff x="888" y="1104"/>
              <a:chExt cx="246" cy="48"/>
            </a:xfrm>
          </p:grpSpPr>
          <p:sp>
            <p:nvSpPr>
              <p:cNvPr id="2117" name="Line 17"/>
              <p:cNvSpPr>
                <a:spLocks noChangeShapeType="1"/>
              </p:cNvSpPr>
              <p:nvPr/>
            </p:nvSpPr>
            <p:spPr bwMode="auto">
              <a:xfrm flipH="1">
                <a:off x="888" y="110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18" name="Line 18"/>
              <p:cNvSpPr>
                <a:spLocks noChangeShapeType="1"/>
              </p:cNvSpPr>
              <p:nvPr/>
            </p:nvSpPr>
            <p:spPr bwMode="auto">
              <a:xfrm flipV="1">
                <a:off x="1086" y="1104"/>
                <a:ext cx="48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2056" name="Text Box 19"/>
          <p:cNvSpPr txBox="1">
            <a:spLocks noChangeArrowheads="1"/>
          </p:cNvSpPr>
          <p:nvPr/>
        </p:nvSpPr>
        <p:spPr bwMode="auto">
          <a:xfrm>
            <a:off x="1257300" y="2617788"/>
            <a:ext cx="4114800" cy="3492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 dirty="0"/>
              <a:t>Dispensing of material as per </a:t>
            </a:r>
            <a:r>
              <a:rPr lang="en-US" sz="800" dirty="0" smtClean="0"/>
              <a:t>weighing </a:t>
            </a:r>
            <a:r>
              <a:rPr lang="en-US" sz="800" dirty="0"/>
              <a:t>sheet for RM or packaging order for PM by stores in presence of Production personnel &amp; transfer of material to production</a:t>
            </a:r>
          </a:p>
        </p:txBody>
      </p:sp>
      <p:sp>
        <p:nvSpPr>
          <p:cNvPr id="2057" name="Line 20"/>
          <p:cNvSpPr>
            <a:spLocks noChangeShapeType="1"/>
          </p:cNvSpPr>
          <p:nvPr/>
        </p:nvSpPr>
        <p:spPr bwMode="auto">
          <a:xfrm>
            <a:off x="3314700" y="2333625"/>
            <a:ext cx="0" cy="2698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sm" len="med"/>
          </a:ln>
        </p:spPr>
        <p:txBody>
          <a:bodyPr/>
          <a:lstStyle/>
          <a:p>
            <a:endParaRPr lang="en-GB"/>
          </a:p>
        </p:txBody>
      </p:sp>
      <p:sp>
        <p:nvSpPr>
          <p:cNvPr id="2058" name="Text Box 21"/>
          <p:cNvSpPr txBox="1">
            <a:spLocks noChangeArrowheads="1"/>
          </p:cNvSpPr>
          <p:nvPr/>
        </p:nvSpPr>
        <p:spPr bwMode="auto">
          <a:xfrm>
            <a:off x="1520825" y="3257550"/>
            <a:ext cx="3581400" cy="215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144" r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/>
              <a:t>Manufacture of batch as per direction and filling of BMR </a:t>
            </a:r>
          </a:p>
        </p:txBody>
      </p:sp>
      <p:sp>
        <p:nvSpPr>
          <p:cNvPr id="2059" name="Line 22"/>
          <p:cNvSpPr>
            <a:spLocks noChangeShapeType="1"/>
          </p:cNvSpPr>
          <p:nvPr/>
        </p:nvSpPr>
        <p:spPr bwMode="auto">
          <a:xfrm>
            <a:off x="3314700" y="2971800"/>
            <a:ext cx="0" cy="266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sm" len="med"/>
          </a:ln>
        </p:spPr>
        <p:txBody>
          <a:bodyPr/>
          <a:lstStyle/>
          <a:p>
            <a:endParaRPr lang="en-GB"/>
          </a:p>
        </p:txBody>
      </p:sp>
      <p:sp>
        <p:nvSpPr>
          <p:cNvPr id="2060" name="Line 23"/>
          <p:cNvSpPr>
            <a:spLocks noChangeShapeType="1"/>
          </p:cNvSpPr>
          <p:nvPr/>
        </p:nvSpPr>
        <p:spPr bwMode="auto">
          <a:xfrm>
            <a:off x="3309938" y="3479800"/>
            <a:ext cx="4762" cy="320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sm" len="med"/>
          </a:ln>
        </p:spPr>
        <p:txBody>
          <a:bodyPr/>
          <a:lstStyle/>
          <a:p>
            <a:endParaRPr lang="en-GB"/>
          </a:p>
        </p:txBody>
      </p:sp>
      <p:sp>
        <p:nvSpPr>
          <p:cNvPr id="2061" name="Text Box 24"/>
          <p:cNvSpPr txBox="1">
            <a:spLocks noChangeArrowheads="1"/>
          </p:cNvSpPr>
          <p:nvPr/>
        </p:nvSpPr>
        <p:spPr bwMode="auto">
          <a:xfrm>
            <a:off x="952500" y="3819525"/>
            <a:ext cx="1257300" cy="2270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/>
              <a:t>Quality Control Lab.</a:t>
            </a:r>
          </a:p>
        </p:txBody>
      </p:sp>
      <p:sp>
        <p:nvSpPr>
          <p:cNvPr id="2062" name="Text Box 25"/>
          <p:cNvSpPr txBox="1">
            <a:spLocks noChangeArrowheads="1"/>
          </p:cNvSpPr>
          <p:nvPr/>
        </p:nvSpPr>
        <p:spPr bwMode="auto">
          <a:xfrm>
            <a:off x="2781300" y="3819525"/>
            <a:ext cx="1066800" cy="2270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/>
              <a:t>In-process Checks</a:t>
            </a:r>
          </a:p>
        </p:txBody>
      </p:sp>
      <p:sp>
        <p:nvSpPr>
          <p:cNvPr id="2063" name="Text Box 26"/>
          <p:cNvSpPr txBox="1">
            <a:spLocks noChangeArrowheads="1"/>
          </p:cNvSpPr>
          <p:nvPr/>
        </p:nvSpPr>
        <p:spPr bwMode="auto">
          <a:xfrm>
            <a:off x="4381500" y="3779838"/>
            <a:ext cx="1295400" cy="3492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/>
              <a:t>Checking of Equipment and ingredients</a:t>
            </a:r>
          </a:p>
        </p:txBody>
      </p:sp>
      <p:sp>
        <p:nvSpPr>
          <p:cNvPr id="2064" name="Text Box 27"/>
          <p:cNvSpPr txBox="1">
            <a:spLocks noChangeArrowheads="1"/>
          </p:cNvSpPr>
          <p:nvPr/>
        </p:nvSpPr>
        <p:spPr bwMode="auto">
          <a:xfrm>
            <a:off x="2303463" y="3711575"/>
            <a:ext cx="457200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800"/>
              <a:t>IPQA</a:t>
            </a:r>
          </a:p>
        </p:txBody>
      </p:sp>
      <p:sp>
        <p:nvSpPr>
          <p:cNvPr id="2065" name="Text Box 28"/>
          <p:cNvSpPr txBox="1">
            <a:spLocks noChangeArrowheads="1"/>
          </p:cNvSpPr>
          <p:nvPr/>
        </p:nvSpPr>
        <p:spPr bwMode="auto">
          <a:xfrm>
            <a:off x="3929063" y="3722688"/>
            <a:ext cx="457200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800"/>
              <a:t>IPQA</a:t>
            </a:r>
          </a:p>
        </p:txBody>
      </p:sp>
      <p:sp>
        <p:nvSpPr>
          <p:cNvPr id="2066" name="Text Box 43"/>
          <p:cNvSpPr txBox="1">
            <a:spLocks noChangeArrowheads="1"/>
          </p:cNvSpPr>
          <p:nvPr/>
        </p:nvSpPr>
        <p:spPr bwMode="auto">
          <a:xfrm>
            <a:off x="1273175" y="5197475"/>
            <a:ext cx="1295400" cy="3492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/>
              <a:t>Withdrawal of Control Samples by IPQA</a:t>
            </a:r>
          </a:p>
        </p:txBody>
      </p:sp>
      <p:sp>
        <p:nvSpPr>
          <p:cNvPr id="2067" name="Text Box 44"/>
          <p:cNvSpPr txBox="1">
            <a:spLocks noChangeArrowheads="1"/>
          </p:cNvSpPr>
          <p:nvPr/>
        </p:nvSpPr>
        <p:spPr bwMode="auto">
          <a:xfrm>
            <a:off x="2625725" y="4319588"/>
            <a:ext cx="1371600" cy="3492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/>
              <a:t>Packing as per Packaging Instruction</a:t>
            </a:r>
          </a:p>
        </p:txBody>
      </p:sp>
      <p:sp>
        <p:nvSpPr>
          <p:cNvPr id="2068" name="Line 45"/>
          <p:cNvSpPr>
            <a:spLocks noChangeShapeType="1"/>
          </p:cNvSpPr>
          <p:nvPr/>
        </p:nvSpPr>
        <p:spPr bwMode="auto">
          <a:xfrm>
            <a:off x="5229225" y="5924550"/>
            <a:ext cx="0" cy="666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sm" len="med"/>
          </a:ln>
        </p:spPr>
        <p:txBody>
          <a:bodyPr/>
          <a:lstStyle/>
          <a:p>
            <a:endParaRPr lang="en-GB"/>
          </a:p>
        </p:txBody>
      </p:sp>
      <p:sp>
        <p:nvSpPr>
          <p:cNvPr id="2069" name="Text Box 46"/>
          <p:cNvSpPr txBox="1">
            <a:spLocks noChangeArrowheads="1"/>
          </p:cNvSpPr>
          <p:nvPr/>
        </p:nvSpPr>
        <p:spPr bwMode="auto">
          <a:xfrm>
            <a:off x="4210050" y="6616700"/>
            <a:ext cx="2057400" cy="3492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/>
              <a:t>Storage of released product in Finished Goods Warehouse</a:t>
            </a:r>
          </a:p>
        </p:txBody>
      </p:sp>
      <p:sp>
        <p:nvSpPr>
          <p:cNvPr id="2070" name="Text Box 47"/>
          <p:cNvSpPr txBox="1">
            <a:spLocks noChangeArrowheads="1"/>
          </p:cNvSpPr>
          <p:nvPr/>
        </p:nvSpPr>
        <p:spPr bwMode="auto">
          <a:xfrm>
            <a:off x="4591050" y="7354888"/>
            <a:ext cx="1295400" cy="2270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/>
              <a:t>Marketing</a:t>
            </a:r>
          </a:p>
        </p:txBody>
      </p:sp>
      <p:sp>
        <p:nvSpPr>
          <p:cNvPr id="2071" name="Text Box 48"/>
          <p:cNvSpPr txBox="1">
            <a:spLocks noChangeArrowheads="1"/>
          </p:cNvSpPr>
          <p:nvPr/>
        </p:nvSpPr>
        <p:spPr bwMode="auto">
          <a:xfrm>
            <a:off x="2171700" y="6626225"/>
            <a:ext cx="1447800" cy="46166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 dirty="0"/>
              <a:t>Quality Control Lab. for stability </a:t>
            </a:r>
            <a:r>
              <a:rPr lang="en-US" sz="800" dirty="0" smtClean="0"/>
              <a:t>monitoring ( Retention Samples)</a:t>
            </a:r>
            <a:endParaRPr lang="en-US" sz="800" dirty="0"/>
          </a:p>
        </p:txBody>
      </p:sp>
      <p:grpSp>
        <p:nvGrpSpPr>
          <p:cNvPr id="2072" name="Group 49"/>
          <p:cNvGrpSpPr>
            <a:grpSpLocks/>
          </p:cNvGrpSpPr>
          <p:nvPr/>
        </p:nvGrpSpPr>
        <p:grpSpPr bwMode="auto">
          <a:xfrm>
            <a:off x="2270125" y="3865563"/>
            <a:ext cx="419100" cy="185737"/>
            <a:chOff x="1368" y="3069"/>
            <a:chExt cx="432" cy="117"/>
          </a:xfrm>
        </p:grpSpPr>
        <p:sp>
          <p:nvSpPr>
            <p:cNvPr id="2111" name="Line 50"/>
            <p:cNvSpPr>
              <a:spLocks noChangeShapeType="1"/>
            </p:cNvSpPr>
            <p:nvPr/>
          </p:nvSpPr>
          <p:spPr bwMode="auto">
            <a:xfrm flipH="1">
              <a:off x="1368" y="3119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12" name="Line 51"/>
            <p:cNvSpPr>
              <a:spLocks noChangeShapeType="1"/>
            </p:cNvSpPr>
            <p:nvPr/>
          </p:nvSpPr>
          <p:spPr bwMode="auto">
            <a:xfrm flipV="1">
              <a:off x="1368" y="3069"/>
              <a:ext cx="96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13" name="Line 52"/>
            <p:cNvSpPr>
              <a:spLocks noChangeShapeType="1"/>
            </p:cNvSpPr>
            <p:nvPr/>
          </p:nvSpPr>
          <p:spPr bwMode="auto">
            <a:xfrm flipH="1">
              <a:off x="1368" y="3139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14" name="Line 53"/>
            <p:cNvSpPr>
              <a:spLocks noChangeShapeType="1"/>
            </p:cNvSpPr>
            <p:nvPr/>
          </p:nvSpPr>
          <p:spPr bwMode="auto">
            <a:xfrm flipV="1">
              <a:off x="1704" y="3139"/>
              <a:ext cx="96" cy="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073" name="Line 54"/>
          <p:cNvSpPr>
            <a:spLocks noChangeShapeType="1"/>
          </p:cNvSpPr>
          <p:nvPr/>
        </p:nvSpPr>
        <p:spPr bwMode="auto">
          <a:xfrm>
            <a:off x="3314700" y="4027488"/>
            <a:ext cx="0" cy="2889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sm" len="med"/>
          </a:ln>
        </p:spPr>
        <p:txBody>
          <a:bodyPr/>
          <a:lstStyle/>
          <a:p>
            <a:endParaRPr lang="en-GB"/>
          </a:p>
        </p:txBody>
      </p:sp>
      <p:sp>
        <p:nvSpPr>
          <p:cNvPr id="2074" name="Text Box 55"/>
          <p:cNvSpPr txBox="1">
            <a:spLocks noChangeArrowheads="1"/>
          </p:cNvSpPr>
          <p:nvPr/>
        </p:nvSpPr>
        <p:spPr bwMode="auto">
          <a:xfrm>
            <a:off x="2778125" y="4953000"/>
            <a:ext cx="1066800" cy="2270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/>
              <a:t>In-process Checks</a:t>
            </a:r>
          </a:p>
        </p:txBody>
      </p:sp>
      <p:sp>
        <p:nvSpPr>
          <p:cNvPr id="2075" name="Line 56"/>
          <p:cNvSpPr>
            <a:spLocks noChangeShapeType="1"/>
          </p:cNvSpPr>
          <p:nvPr/>
        </p:nvSpPr>
        <p:spPr bwMode="auto">
          <a:xfrm>
            <a:off x="3314700" y="4664075"/>
            <a:ext cx="0" cy="2889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sm" len="med"/>
          </a:ln>
        </p:spPr>
        <p:txBody>
          <a:bodyPr/>
          <a:lstStyle/>
          <a:p>
            <a:endParaRPr lang="en-GB"/>
          </a:p>
        </p:txBody>
      </p:sp>
      <p:sp>
        <p:nvSpPr>
          <p:cNvPr id="2076" name="Line 57"/>
          <p:cNvSpPr>
            <a:spLocks noChangeShapeType="1"/>
          </p:cNvSpPr>
          <p:nvPr/>
        </p:nvSpPr>
        <p:spPr bwMode="auto">
          <a:xfrm flipH="1">
            <a:off x="2628900" y="536575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sm" len="med"/>
          </a:ln>
        </p:spPr>
        <p:txBody>
          <a:bodyPr/>
          <a:lstStyle/>
          <a:p>
            <a:endParaRPr lang="en-GB"/>
          </a:p>
        </p:txBody>
      </p:sp>
      <p:sp>
        <p:nvSpPr>
          <p:cNvPr id="2077" name="Line 58"/>
          <p:cNvSpPr>
            <a:spLocks noChangeShapeType="1"/>
          </p:cNvSpPr>
          <p:nvPr/>
        </p:nvSpPr>
        <p:spPr bwMode="auto">
          <a:xfrm>
            <a:off x="3314700" y="5184775"/>
            <a:ext cx="0" cy="4095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sm" len="med"/>
          </a:ln>
        </p:spPr>
        <p:txBody>
          <a:bodyPr/>
          <a:lstStyle/>
          <a:p>
            <a:endParaRPr lang="en-GB"/>
          </a:p>
        </p:txBody>
      </p:sp>
      <p:sp>
        <p:nvSpPr>
          <p:cNvPr id="2078" name="Text Box 59"/>
          <p:cNvSpPr txBox="1">
            <a:spLocks noChangeArrowheads="1"/>
          </p:cNvSpPr>
          <p:nvPr/>
        </p:nvSpPr>
        <p:spPr bwMode="auto">
          <a:xfrm>
            <a:off x="2781300" y="5594350"/>
            <a:ext cx="1066800" cy="3492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/>
              <a:t>Finished product in Quarantine Area</a:t>
            </a:r>
          </a:p>
        </p:txBody>
      </p:sp>
      <p:sp>
        <p:nvSpPr>
          <p:cNvPr id="2079" name="Text Box 60"/>
          <p:cNvSpPr txBox="1">
            <a:spLocks noChangeArrowheads="1"/>
          </p:cNvSpPr>
          <p:nvPr/>
        </p:nvSpPr>
        <p:spPr bwMode="auto">
          <a:xfrm>
            <a:off x="4410075" y="5546725"/>
            <a:ext cx="1590675" cy="3492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/>
              <a:t>Review of Batch Manufacturing Documents and BMR by QA </a:t>
            </a:r>
          </a:p>
        </p:txBody>
      </p:sp>
      <p:grpSp>
        <p:nvGrpSpPr>
          <p:cNvPr id="2080" name="Group 61"/>
          <p:cNvGrpSpPr>
            <a:grpSpLocks/>
          </p:cNvGrpSpPr>
          <p:nvPr/>
        </p:nvGrpSpPr>
        <p:grpSpPr bwMode="auto">
          <a:xfrm rot="10800000">
            <a:off x="3897313" y="5686425"/>
            <a:ext cx="419100" cy="185738"/>
            <a:chOff x="1368" y="3069"/>
            <a:chExt cx="432" cy="117"/>
          </a:xfrm>
        </p:grpSpPr>
        <p:sp>
          <p:nvSpPr>
            <p:cNvPr id="2107" name="Line 62"/>
            <p:cNvSpPr>
              <a:spLocks noChangeShapeType="1"/>
            </p:cNvSpPr>
            <p:nvPr/>
          </p:nvSpPr>
          <p:spPr bwMode="auto">
            <a:xfrm flipH="1">
              <a:off x="1368" y="3119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08" name="Line 63"/>
            <p:cNvSpPr>
              <a:spLocks noChangeShapeType="1"/>
            </p:cNvSpPr>
            <p:nvPr/>
          </p:nvSpPr>
          <p:spPr bwMode="auto">
            <a:xfrm flipV="1">
              <a:off x="1368" y="3069"/>
              <a:ext cx="96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09" name="Line 64"/>
            <p:cNvSpPr>
              <a:spLocks noChangeShapeType="1"/>
            </p:cNvSpPr>
            <p:nvPr/>
          </p:nvSpPr>
          <p:spPr bwMode="auto">
            <a:xfrm flipH="1">
              <a:off x="1368" y="3139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10" name="Line 65"/>
            <p:cNvSpPr>
              <a:spLocks noChangeShapeType="1"/>
            </p:cNvSpPr>
            <p:nvPr/>
          </p:nvSpPr>
          <p:spPr bwMode="auto">
            <a:xfrm flipV="1">
              <a:off x="1704" y="3139"/>
              <a:ext cx="96" cy="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081" name="Group 66"/>
          <p:cNvGrpSpPr>
            <a:grpSpLocks/>
          </p:cNvGrpSpPr>
          <p:nvPr/>
        </p:nvGrpSpPr>
        <p:grpSpPr bwMode="auto">
          <a:xfrm>
            <a:off x="3676650" y="6692900"/>
            <a:ext cx="419100" cy="185738"/>
            <a:chOff x="1368" y="3069"/>
            <a:chExt cx="432" cy="117"/>
          </a:xfrm>
        </p:grpSpPr>
        <p:sp>
          <p:nvSpPr>
            <p:cNvPr id="2103" name="Line 67"/>
            <p:cNvSpPr>
              <a:spLocks noChangeShapeType="1"/>
            </p:cNvSpPr>
            <p:nvPr/>
          </p:nvSpPr>
          <p:spPr bwMode="auto">
            <a:xfrm flipH="1">
              <a:off x="1368" y="3119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04" name="Line 68"/>
            <p:cNvSpPr>
              <a:spLocks noChangeShapeType="1"/>
            </p:cNvSpPr>
            <p:nvPr/>
          </p:nvSpPr>
          <p:spPr bwMode="auto">
            <a:xfrm flipV="1">
              <a:off x="1368" y="3069"/>
              <a:ext cx="96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05" name="Line 69"/>
            <p:cNvSpPr>
              <a:spLocks noChangeShapeType="1"/>
            </p:cNvSpPr>
            <p:nvPr/>
          </p:nvSpPr>
          <p:spPr bwMode="auto">
            <a:xfrm flipH="1">
              <a:off x="1368" y="3139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06" name="Line 70"/>
            <p:cNvSpPr>
              <a:spLocks noChangeShapeType="1"/>
            </p:cNvSpPr>
            <p:nvPr/>
          </p:nvSpPr>
          <p:spPr bwMode="auto">
            <a:xfrm flipV="1">
              <a:off x="1704" y="3139"/>
              <a:ext cx="96" cy="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082" name="Text Box 71"/>
          <p:cNvSpPr txBox="1">
            <a:spLocks noChangeArrowheads="1"/>
          </p:cNvSpPr>
          <p:nvPr/>
        </p:nvSpPr>
        <p:spPr bwMode="auto">
          <a:xfrm>
            <a:off x="5191125" y="5991225"/>
            <a:ext cx="1219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800"/>
              <a:t>Release of Batch for sales and distribution</a:t>
            </a:r>
          </a:p>
        </p:txBody>
      </p:sp>
      <p:sp>
        <p:nvSpPr>
          <p:cNvPr id="2083" name="Line 72"/>
          <p:cNvSpPr>
            <a:spLocks noChangeShapeType="1"/>
          </p:cNvSpPr>
          <p:nvPr/>
        </p:nvSpPr>
        <p:spPr bwMode="auto">
          <a:xfrm>
            <a:off x="5232400" y="69596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sm" len="med"/>
          </a:ln>
        </p:spPr>
        <p:txBody>
          <a:bodyPr/>
          <a:lstStyle/>
          <a:p>
            <a:endParaRPr lang="en-GB"/>
          </a:p>
        </p:txBody>
      </p:sp>
      <p:sp>
        <p:nvSpPr>
          <p:cNvPr id="2084" name="Text Box 74"/>
          <p:cNvSpPr txBox="1">
            <a:spLocks noChangeArrowheads="1"/>
          </p:cNvSpPr>
          <p:nvPr/>
        </p:nvSpPr>
        <p:spPr bwMode="auto">
          <a:xfrm>
            <a:off x="5902325" y="76200"/>
            <a:ext cx="95567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 dirty="0" smtClean="0"/>
              <a:t>Annexure-3</a:t>
            </a:r>
            <a:endParaRPr lang="en-US" sz="1200" b="1" dirty="0"/>
          </a:p>
        </p:txBody>
      </p:sp>
      <p:sp>
        <p:nvSpPr>
          <p:cNvPr id="2085" name="Line 75"/>
          <p:cNvSpPr>
            <a:spLocks noChangeShapeType="1"/>
          </p:cNvSpPr>
          <p:nvPr/>
        </p:nvSpPr>
        <p:spPr bwMode="auto">
          <a:xfrm>
            <a:off x="3314700" y="1847850"/>
            <a:ext cx="0" cy="2698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sm" len="med"/>
          </a:ln>
        </p:spPr>
        <p:txBody>
          <a:bodyPr/>
          <a:lstStyle/>
          <a:p>
            <a:endParaRPr lang="en-GB"/>
          </a:p>
        </p:txBody>
      </p:sp>
      <p:grpSp>
        <p:nvGrpSpPr>
          <p:cNvPr id="2086" name="Group 76"/>
          <p:cNvGrpSpPr>
            <a:grpSpLocks/>
          </p:cNvGrpSpPr>
          <p:nvPr/>
        </p:nvGrpSpPr>
        <p:grpSpPr bwMode="auto">
          <a:xfrm>
            <a:off x="3898900" y="3846513"/>
            <a:ext cx="419100" cy="185737"/>
            <a:chOff x="1368" y="3069"/>
            <a:chExt cx="432" cy="117"/>
          </a:xfrm>
        </p:grpSpPr>
        <p:sp>
          <p:nvSpPr>
            <p:cNvPr id="2099" name="Line 77"/>
            <p:cNvSpPr>
              <a:spLocks noChangeShapeType="1"/>
            </p:cNvSpPr>
            <p:nvPr/>
          </p:nvSpPr>
          <p:spPr bwMode="auto">
            <a:xfrm flipH="1">
              <a:off x="1368" y="3119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00" name="Line 78"/>
            <p:cNvSpPr>
              <a:spLocks noChangeShapeType="1"/>
            </p:cNvSpPr>
            <p:nvPr/>
          </p:nvSpPr>
          <p:spPr bwMode="auto">
            <a:xfrm flipV="1">
              <a:off x="1368" y="3069"/>
              <a:ext cx="96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01" name="Line 79"/>
            <p:cNvSpPr>
              <a:spLocks noChangeShapeType="1"/>
            </p:cNvSpPr>
            <p:nvPr/>
          </p:nvSpPr>
          <p:spPr bwMode="auto">
            <a:xfrm flipH="1">
              <a:off x="1368" y="3139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02" name="Line 80"/>
            <p:cNvSpPr>
              <a:spLocks noChangeShapeType="1"/>
            </p:cNvSpPr>
            <p:nvPr/>
          </p:nvSpPr>
          <p:spPr bwMode="auto">
            <a:xfrm flipV="1">
              <a:off x="1704" y="3139"/>
              <a:ext cx="96" cy="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</p:grp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457200" y="228600"/>
          <a:ext cx="5410200" cy="674370"/>
        </p:xfrm>
        <a:graphic>
          <a:graphicData uri="http://schemas.openxmlformats.org/drawingml/2006/table">
            <a:tbl>
              <a:tblPr/>
              <a:tblGrid>
                <a:gridCol w="5410200"/>
              </a:tblGrid>
              <a:tr h="20002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SITE MASTER FILE 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Annexure Name : </a:t>
                      </a: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</a:rPr>
                        <a:t>Flow Chart – Quality System at </a:t>
                      </a:r>
                      <a:r>
                        <a:rPr lang="en-US" sz="1200" dirty="0" smtClean="0">
                          <a:latin typeface="Times New Roman"/>
                          <a:ea typeface="Times New Roman"/>
                          <a:cs typeface="Times New Roman"/>
                        </a:rPr>
                        <a:t>BIOMEDICAL LTD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latin typeface="Times New Roman"/>
                          <a:ea typeface="Times New Roman"/>
                          <a:cs typeface="Times New Roman"/>
                        </a:rPr>
                        <a:t>Document No.: </a:t>
                      </a:r>
                      <a:r>
                        <a:rPr lang="en-US" sz="12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BML/QA/SMF/001MS</a:t>
                      </a:r>
                      <a:endParaRPr lang="en-US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97" name="Rectangle 82"/>
          <p:cNvSpPr>
            <a:spLocks noChangeArrowheads="1"/>
          </p:cNvSpPr>
          <p:nvPr/>
        </p:nvSpPr>
        <p:spPr bwMode="auto">
          <a:xfrm>
            <a:off x="0" y="914400"/>
            <a:ext cx="685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64" name="Picture 63" descr="C:\Users\MR MICHAEL OMOSEBI\Desktop\biologo.pn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76200"/>
            <a:ext cx="974863" cy="478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162</Words>
  <Application>Microsoft PowerPoint</Application>
  <PresentationFormat>A4 Paper (210x297 mm)</PresentationFormat>
  <Paragraphs>25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Default Design</vt:lpstr>
      <vt:lpstr>Slide 1</vt:lpstr>
    </vt:vector>
  </TitlesOfParts>
  <Company>Humankind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Quality Assurance</dc:creator>
  <cp:lastModifiedBy>BIOMEDICAL</cp:lastModifiedBy>
  <cp:revision>100</cp:revision>
  <dcterms:created xsi:type="dcterms:W3CDTF">2000-01-03T07:39:30Z</dcterms:created>
  <dcterms:modified xsi:type="dcterms:W3CDTF">2024-02-16T12:36:35Z</dcterms:modified>
</cp:coreProperties>
</file>